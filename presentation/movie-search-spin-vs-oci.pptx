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b9e787e9048cb" /><Relationship Type="http://schemas.openxmlformats.org/officeDocument/2006/relationships/extended-properties" Target="/docProps/app.xml" Id="R88d560b1857e4637" /><Relationship Type="http://schemas.openxmlformats.org/officeDocument/2006/relationships/officeDocument" Target="/ppt/presentation.xml" Id="R52701b4de88d42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9b9ff06f046e0"/>
  </p:sldMasterIdLst>
  <p:notesMasterIdLst>
    <p:notesMasterId xmlns:r="http://schemas.openxmlformats.org/officeDocument/2006/relationships" r:id="Rab12b16909774dc7"/>
  </p:notesMasterIdLst>
  <p:sldIdLst>
    <p:sldId xmlns:r="http://schemas.openxmlformats.org/officeDocument/2006/relationships" id="256" r:id="R7f168f5a79fe4b05"/>
    <p:sldId xmlns:r="http://schemas.openxmlformats.org/officeDocument/2006/relationships" id="257" r:id="R73492972c09f4ce6"/>
    <p:sldId xmlns:r="http://schemas.openxmlformats.org/officeDocument/2006/relationships" id="258" r:id="Rf35cfd4d9c7f4e58"/>
    <p:sldId xmlns:r="http://schemas.openxmlformats.org/officeDocument/2006/relationships" id="259" r:id="R8be3fc2a805e44c9"/>
    <p:sldId xmlns:r="http://schemas.openxmlformats.org/officeDocument/2006/relationships" id="260" r:id="R864fcea5bcc14dd1"/>
    <p:sldId xmlns:r="http://schemas.openxmlformats.org/officeDocument/2006/relationships" id="261" r:id="R3aae0319477c47e4"/>
    <p:sldId xmlns:r="http://schemas.openxmlformats.org/officeDocument/2006/relationships" id="262" r:id="R30a81ba6ff3d4473"/>
    <p:sldId xmlns:r="http://schemas.openxmlformats.org/officeDocument/2006/relationships" id="263" r:id="Rb6e6f51c9f784c26"/>
    <p:sldId xmlns:r="http://schemas.openxmlformats.org/officeDocument/2006/relationships" id="264" r:id="R02c779e4dbbd4165"/>
    <p:sldId xmlns:r="http://schemas.openxmlformats.org/officeDocument/2006/relationships" id="265" r:id="R9cb052b55075433e"/>
    <p:sldId xmlns:r="http://schemas.openxmlformats.org/officeDocument/2006/relationships" id="266" r:id="R9cd8a60bd3fa4469"/>
    <p:sldId xmlns:r="http://schemas.openxmlformats.org/officeDocument/2006/relationships" id="267" r:id="R451a4028e3f54022"/>
    <p:sldId xmlns:r="http://schemas.openxmlformats.org/officeDocument/2006/relationships" id="268" r:id="R9962f493a839412d"/>
    <p:sldId xmlns:r="http://schemas.openxmlformats.org/officeDocument/2006/relationships" id="269" r:id="R03d80ebbbf034a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9b9ff06f046e0" /><Relationship Type="http://schemas.openxmlformats.org/officeDocument/2006/relationships/theme" Target="/ppt/theme/theme1.xml" Id="Rdc6a7b3a09cc45de" /><Relationship Type="http://schemas.openxmlformats.org/officeDocument/2006/relationships/notesMaster" Target="/ppt/notesMasters/notesMaster1.xml" Id="Rab12b16909774dc7" /><Relationship Type="http://schemas.openxmlformats.org/officeDocument/2006/relationships/presProps" Target="/ppt/presProps.xml" Id="R90a11f4c1485402e" /><Relationship Type="http://schemas.openxmlformats.org/officeDocument/2006/relationships/viewProps" Target="/ppt/viewProps.xml" Id="R676af7a3afd64acd" /><Relationship Type="http://schemas.openxmlformats.org/officeDocument/2006/relationships/tableStyles" Target="/ppt/tableStyles.xml" Id="R991c6958b69b4053" /><Relationship Type="http://schemas.openxmlformats.org/officeDocument/2006/relationships/slide" Target="/ppt/slides/slide1.xml" Id="R7f168f5a79fe4b05" /><Relationship Type="http://schemas.openxmlformats.org/officeDocument/2006/relationships/slide" Target="/ppt/slides/slide2.xml" Id="R73492972c09f4ce6" /><Relationship Type="http://schemas.openxmlformats.org/officeDocument/2006/relationships/slide" Target="/ppt/slides/slide3.xml" Id="Rf35cfd4d9c7f4e58" /><Relationship Type="http://schemas.openxmlformats.org/officeDocument/2006/relationships/slide" Target="/ppt/slides/slide4.xml" Id="R8be3fc2a805e44c9" /><Relationship Type="http://schemas.openxmlformats.org/officeDocument/2006/relationships/slide" Target="/ppt/slides/slide5.xml" Id="R864fcea5bcc14dd1" /><Relationship Type="http://schemas.openxmlformats.org/officeDocument/2006/relationships/slide" Target="/ppt/slides/slide6.xml" Id="R3aae0319477c47e4" /><Relationship Type="http://schemas.openxmlformats.org/officeDocument/2006/relationships/slide" Target="/ppt/slides/slide7.xml" Id="R30a81ba6ff3d4473" /><Relationship Type="http://schemas.openxmlformats.org/officeDocument/2006/relationships/slide" Target="/ppt/slides/slide8.xml" Id="Rb6e6f51c9f784c26" /><Relationship Type="http://schemas.openxmlformats.org/officeDocument/2006/relationships/slide" Target="/ppt/slides/slide9.xml" Id="R02c779e4dbbd4165" /><Relationship Type="http://schemas.openxmlformats.org/officeDocument/2006/relationships/slide" Target="/ppt/slides/slide10.xml" Id="R9cb052b55075433e" /><Relationship Type="http://schemas.openxmlformats.org/officeDocument/2006/relationships/slide" Target="/ppt/slides/slide11.xml" Id="R9cd8a60bd3fa4469" /><Relationship Type="http://schemas.openxmlformats.org/officeDocument/2006/relationships/slide" Target="/ppt/slides/slide12.xml" Id="R451a4028e3f54022" /><Relationship Type="http://schemas.openxmlformats.org/officeDocument/2006/relationships/slide" Target="/ppt/slides/slide13.xml" Id="R9962f493a839412d" /><Relationship Type="http://schemas.openxmlformats.org/officeDocument/2006/relationships/slide" Target="/ppt/slides/slide14.xml" Id="R03d80ebbbf034a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b4a441b8a7041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0baca5c77c48ce" /><Relationship Type="http://schemas.openxmlformats.org/officeDocument/2006/relationships/notesMaster" Target="/ppt/notesMasters/notesMaster1.xml" Id="Rcbeb00bfd53c47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1d268b2fc94b0d" /><Relationship Type="http://schemas.openxmlformats.org/officeDocument/2006/relationships/notesMaster" Target="/ppt/notesMasters/notesMaster1.xml" Id="R5cca54cadfdc46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1fe0f16f4d423e" /><Relationship Type="http://schemas.openxmlformats.org/officeDocument/2006/relationships/notesMaster" Target="/ppt/notesMasters/notesMaster1.xml" Id="R792e749e415b4c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ad134154854170" /><Relationship Type="http://schemas.openxmlformats.org/officeDocument/2006/relationships/notesMaster" Target="/ppt/notesMasters/notesMaster1.xml" Id="R864d493af9ec4c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aa15a3890845c4" /><Relationship Type="http://schemas.openxmlformats.org/officeDocument/2006/relationships/notesMaster" Target="/ppt/notesMasters/notesMaster1.xml" Id="Rc5a48b4e332140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d01e96f35f4ab2" /><Relationship Type="http://schemas.openxmlformats.org/officeDocument/2006/relationships/notesMaster" Target="/ppt/notesMasters/notesMaster1.xml" Id="R9457bdc496964c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f6f8940d084fc2" /><Relationship Type="http://schemas.openxmlformats.org/officeDocument/2006/relationships/notesMaster" Target="/ppt/notesMasters/notesMaster1.xml" Id="R5a1d1cf3a3ba4d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8575997095490b" /><Relationship Type="http://schemas.openxmlformats.org/officeDocument/2006/relationships/notesMaster" Target="/ppt/notesMasters/notesMaster1.xml" Id="R784bd531b1484f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e96654788e46ee" /><Relationship Type="http://schemas.openxmlformats.org/officeDocument/2006/relationships/notesMaster" Target="/ppt/notesMasters/notesMaster1.xml" Id="Rbb137ad2eb2c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26894aa4044056" /><Relationship Type="http://schemas.openxmlformats.org/officeDocument/2006/relationships/notesMaster" Target="/ppt/notesMasters/notesMaster1.xml" Id="Rf7c64f60b11643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c5e752c07a42ec" /><Relationship Type="http://schemas.openxmlformats.org/officeDocument/2006/relationships/notesMaster" Target="/ppt/notesMasters/notesMaster1.xml" Id="Rdcf14ea4f4304d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59e6cb944347cb" /><Relationship Type="http://schemas.openxmlformats.org/officeDocument/2006/relationships/notesMaster" Target="/ppt/notesMasters/notesMaster1.xml" Id="R0fcc7f07628449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2f433bd6e3421c" /><Relationship Type="http://schemas.openxmlformats.org/officeDocument/2006/relationships/notesMaster" Target="/ppt/notesMasters/notesMaster1.xml" Id="R599bb53c6a2944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d434584e2d447b" /><Relationship Type="http://schemas.openxmlformats.org/officeDocument/2006/relationships/notesMaster" Target="/ppt/notesMasters/notesMaster1.xml" Id="R183f82b9563046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Otwieramy jasnym celem: to nie jest benchmark Meilisearch, tylko porównanie tego samego mikroserwisu Rust w dwóch modelach izolacji.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 ustawiamy metodologię: interesuje nas różnica izolacji i uruchomienia, więc eliminujemy różnicę logiki aplikacji.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Spin to framework dla aplikacji i mikroserwisów WebAssembly. WASI daje kontrolowane interfejsy systemowe, a wasmtime wykonuje komponenty poza przeglądarką.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 slajd uzasadnia decyzję projektową. Nie chowamy porażki portu: pokazujemy ją jako powód poprawienia metody.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Aplikacja jest prosta celowo. Dzięki temu wyniki wynikają z runtime'u i adapterów, a nie z ukrytej złożoności silnika wyszukiwarki.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najważniejszy slajd techniczny: shared core jest środkiem ciężkości, a Spin i OCI to adaptery wokół tej samej logiki.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Pokazujemy pełny pipeline: testy, build, parity, cold start, load, memory, analiza. Full benchmark nie jest częścią demo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 jest warunek wiarygodności. Parytet obejmuje engine, documentCount, estimatedTotalHits i listy hit.id.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Wyjaśniamy różnicę między gotowością /health i pierwszym realnym requestem /search. To dwie różne metryki.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Zapytanie space dotyka tekstowego skanowania. Spin ma wyższy request rate, ale przy dużej współbieżności ma gorszy ogon opóźnień.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Puste zapytanie jest lekkie aplikacyjnie, więc bardzo mocno ujawnia różnicę narzutu runtime i serwera HTTP.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OCI mierzymy przez docker stats, Spin przez RSS drzewa procesów. To trzeba powiedzieć głośno, żeby wniosek był uczciwy.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ma trwać kilka minut: health, version, stats, search, compare_results i pokazanie finalnych wykresów.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Kończymy zniuansowanym wnioskiem: Spin/WASM jest obiecujący dla małych izolowanych usług, OCI nadal wygrywa dojrzałością operacyjną.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df560f5784c9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15c61a32b754aa8" /><Relationship Type="http://schemas.openxmlformats.org/officeDocument/2006/relationships/slideLayout" Target="/ppt/slideLayouts/slideLayout2.xml" Id="R6e14ae4e02584e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14ae4e02584e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ddba559a964d13" /><Relationship Type="http://schemas.openxmlformats.org/officeDocument/2006/relationships/notesSlide" Target="/ppt/notesSlides/notesSlide1.xml" Id="R26ef6214e5674a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2424efcb6145cc" /><Relationship Type="http://schemas.openxmlformats.org/officeDocument/2006/relationships/notesSlide" Target="/ppt/notesSlides/notesSlide2.xml" Id="R3ade755f302841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05e271438846fc" /><Relationship Type="http://schemas.openxmlformats.org/officeDocument/2006/relationships/notesSlide" Target="/ppt/notesSlides/notesSlide3.xml" Id="Rdde82fc62fcd46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553998c7b428e" /><Relationship Type="http://schemas.openxmlformats.org/officeDocument/2006/relationships/notesSlide" Target="/ppt/notesSlides/notesSlide4.xml" Id="R9ff234445dcf42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9323c56f574194" /><Relationship Type="http://schemas.openxmlformats.org/officeDocument/2006/relationships/notesSlide" Target="/ppt/notesSlides/notesSlide5.xml" Id="Rba96d96256f442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6892131c1e4684" /><Relationship Type="http://schemas.openxmlformats.org/officeDocument/2006/relationships/notesSlide" Target="/ppt/notesSlides/notesSlide6.xml" Id="Rb47df2f173c940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37790d0f2c4d73" /><Relationship Type="http://schemas.openxmlformats.org/officeDocument/2006/relationships/notesSlide" Target="/ppt/notesSlides/notesSlide7.xml" Id="Rc90830e2151149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8011501b674190" /><Relationship Type="http://schemas.openxmlformats.org/officeDocument/2006/relationships/notesSlide" Target="/ppt/notesSlides/notesSlide8.xml" Id="R4aef3267da7f41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a1233ad070471e" /><Relationship Type="http://schemas.openxmlformats.org/officeDocument/2006/relationships/image" Target="/ppt/media/image.png" Id="Rff15691727ad401a" /><Relationship Type="http://schemas.openxmlformats.org/officeDocument/2006/relationships/notesSlide" Target="/ppt/notesSlides/notesSlide9.xml" Id="R82fdc9c1bc8b43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a99bb80ba7448a" /><Relationship Type="http://schemas.openxmlformats.org/officeDocument/2006/relationships/image" Target="/ppt/media/image2.png" Id="R5f47d662540e40c3" /><Relationship Type="http://schemas.openxmlformats.org/officeDocument/2006/relationships/notesSlide" Target="/ppt/notesSlides/notesSlide10.xml" Id="Rce8f0f8ec0164b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34dc8553a148e1" /><Relationship Type="http://schemas.openxmlformats.org/officeDocument/2006/relationships/image" Target="/ppt/media/image3.png" Id="R398c51db34374b7d" /><Relationship Type="http://schemas.openxmlformats.org/officeDocument/2006/relationships/notesSlide" Target="/ppt/notesSlides/notesSlide11.xml" Id="R563ffee8b7c847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3f317963947ec" /><Relationship Type="http://schemas.openxmlformats.org/officeDocument/2006/relationships/image" Target="/ppt/media/image4.png" Id="R68539f579dcf475f" /><Relationship Type="http://schemas.openxmlformats.org/officeDocument/2006/relationships/notesSlide" Target="/ppt/notesSlides/notesSlide12.xml" Id="R273976cf11eb46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042e8058b4b03" /><Relationship Type="http://schemas.openxmlformats.org/officeDocument/2006/relationships/notesSlide" Target="/ppt/notesSlides/notesSlide13.xml" Id="Ra57791b8d4d742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1e13357f2e4676" /><Relationship Type="http://schemas.openxmlformats.org/officeDocument/2006/relationships/notesSlide" Target="/ppt/notesSlides/notesSlide14.xml" Id="Re9146b28c5fd4d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DB5FFF-8DC5-482B-ADB0-3F4594D4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48499-9B70-4384-8297-8ED1B080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39623-5917-49A6-A564-820D3D90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Projekt LSC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242D6-4FA5-49E4-BE4E-7665964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8001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Movie Search na Spin/WASM vs OCI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53B2F-8C9C-4BA1-A4C8-0BE6AD15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Porównanie WebAssembly jako izolacji dla mikroserwisów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9E04D-8DED-434D-A27C-001AC750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AC9AB-62F7-4D44-A65F-1D055BE7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57D99-0B7C-4624-BA11-B5A76D3C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44 471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DCADF-5A79-4EFD-A2AA-54762F84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filmów w 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F76E7-FD1B-44F6-9359-5E0D188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33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468E-1D33-49A9-B7D6-67F4E37E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33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2253C-D583-4909-A486-7E56B9E1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052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6173B-66D2-46A3-9804-17B571D5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81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wspólny Rust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BF047-5779-4880-8C2C-839A97CC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338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4560D-5A84-4D9E-BEBB-6EE7BD48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338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64730-BCA7-40BF-B275-2A489713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052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 runtime'y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09DC7-920A-458A-91D5-B4B9A692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815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Spin/WASI i OCI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C9665-BCC6-4F82-AE8D-82F91AF0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904875"/>
            <a:ext cx="2381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E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A443F-4A6D-48D5-8987-6C8ADD22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28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Benchmark mikroserwisu HTTP</a:t>
            </a:r>
          </a:p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bez udawania zgodności Meilisearch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64B7A-4AF6-4798-9B2F-5B57FF0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813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Pełny przebieg: 2026-05-24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52381-E4D3-4350-B8D9-79537C3E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4E0A7-DF91-4BD0-9E41-00A35B5C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1544B-6E52-4AC7-80C4-2FD205AC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69529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F71CF0-0BD2-4887-B2B7-7CFB5D3E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0715D-7E55-4CA3-9324-7B2B7DC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030BC-757A-4D88-BFE8-2148C539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Pytanie badawcze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60020-511B-4490-9EA5-CE4FB44B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Czy ten sam mikroserwis działa praktycznie w Spin/WASI i OCI?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D36C0-F4E3-457D-9065-D6EF12A4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4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5F791-D312-4B65-AA7C-09B7CD6B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986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Najpierw dowodzimy zgodności funkcjonalnej, dopiero potem porównujemy cold start, load i pamięć.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E4F7B-6C92-4252-B10D-395B87BF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D57ED-9A61-4E0B-BB6D-CF2D80A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Ten sam kod aplikacyjny: movie-search-core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0E77B-2D29-43C6-8E7C-FDEC59FD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133F3-D95E-4F3C-B30F-3BF8D81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Ten sam dataset: 44 471 filmów po deduplikacji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0E937-04B0-4670-9988-2E02BA38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FE9B7-863D-4A7F-9F69-F128ED91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 same endpointy HTTP i te same zapytania benchmarkowe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B11CC-F2E3-4BE4-9C51-81140A9C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E19D3-F79E-496A-913E-5569B925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Porównanie runtime/isolation, nie dwóch różnych wyszukiwarek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57434-1716-485B-8FA8-EF7B8D7B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B262C-44F4-4278-B7F9-38EEBEF4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275CD-9F4A-461F-A150-71BF40AE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11527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57919-136D-413D-BC22-3C076032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1FDB9-FF19-4827-8038-39F6413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BF444-2071-4C34-BF37-26A6386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9669E-6C1D-4868-90DB-655F2EF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Do czego służy Spin/WASM/WASI/wasmtime?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80D59-7B8F-4E26-844C-CB74D55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5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C6A7D-DFE1-4EC1-A728-DA8F7C54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97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WebAssembly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186B3-8720-4DC0-B7F6-41C72FBC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859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A5974-B80B-432E-8125-FEC6E669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przenośny format binarny i sandbox wykonania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C39B2-610D-4E1D-A5B7-11893B2B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C8D9AE-A606-42A2-A42A-449E693C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3ACEC-A863-4BE1-9282-3EEA822B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C7CD1-D6BD-4A60-A8BA-EB93D9B2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kontrolowane interfejsy: HTTP, filesystem, clock, random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AE27D-520D-4706-B67E-DE5F17C0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C9DBB-BFBA-4149-976C-E957D008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wasmtime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5E6BF-5A66-4C91-BB01-6EECF03F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242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9F2E8-1090-4851-9873-1D69218E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runtime wykonujący komponenty poza przeglądarką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8BBC6-CF74-4636-8B5F-CA53D77F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C61BF-959C-4C0F-A151-F179E26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DEE2F-4F57-46E9-BC21-EA3A3EE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433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C8D1A-7415-44EF-B326-450F05CA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framework i CLI dla mikroserwisów WebAssembly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06266-4AF5-46B6-9DEB-E4A6FF4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6F7D1-73D8-453E-8C24-93E47D72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47A8A-8DC2-45D5-A75D-74C0CC0E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62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1912F-867A-4F69-86F7-2356B8DE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standard obrazu i runtime kontenera jako baseline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BD574-6463-431D-9275-23027DC4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BC7720-B7F1-4D50-8E47-AEB66C5C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8DDB1A-B5A6-4393-99D8-F4F9864E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15744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602175-F8B4-4022-B39D-95D17AF2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3972-884A-4BEC-BEAD-F52684D0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A6103-CA78-45F0-BAC3-AE8F0ABE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Pivot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4F010-33DB-4CAA-8185-5E959028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Dlaczego odeszliśmy od pełnego Meilisearch?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2820A-510C-4B4F-A66A-FFC8C3DC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4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C5E85-D690-495C-84C8-1750F4F5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986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Meilisearch był dobrym case study feasibility, ale złym benchmarkiem 1:1 dla Spin.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80DC0-05D3-4503-AE46-12C40431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44806-4CAF-4696-9C06-CF612BA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Oficjalny Meilisearch opiera storage o LMDB i memory-mapped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7EBEC-AC92-4147-8010-8186999C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22F9F-033D-4ED0-92EA-6F70A2E9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Spin fallback miał inną semantykę rankingu i inny model danych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A2ADA-B3EC-4078-82FA-8999E484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9463A-B49B-4348-BC52-CE5E8D0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Upstream WASI build zatrzymał się na zależnościach runtime/storage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D8739-B390-40AE-AD6B-E3D9BBED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4501C-D63C-4517-947F-AC95EB97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Wniosek: uczciwiej mierzyć własny wspólny serwis niż udawać parytet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602DF-FFB7-4F1E-A56F-0939ECBB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CB5963-545A-4291-9836-F0BCC8C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4B143-810B-42B9-ABD2-055A55F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60442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0B1CA-C7F3-49B9-8E91-70D1D32D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57581-C926-4B43-BF56-BF6A782D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82721-F339-4916-873B-7682E45E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Aplikacja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969AC-1F08-4F1E-BDAF-A83267FA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 robi movie-search?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5B719-1B45-4966-8672-F9AAD56E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65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42C83-9F2F-447D-9C36-A5622CBC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95425"/>
            <a:ext cx="986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Aplikacja jest prosta celowo: ma odsłonić koszt runtime'u, a nie imitować pełny silnik wyszukiwarki.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04ADA-14A1-455D-BD5B-AAF8BAA8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381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9F1F8-40A4-4AD4-BB32-10AD620D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1F410-8357-4003-ADF7-38D21D6C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3000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751B4-530B-4D15-872D-40473D4F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3000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/health · /version · /stats · /movies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E7393-3232-472C-8579-F8390AFE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DF47F-5F7F-4FFE-8CD2-ED513B02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F8236-5868-48EF-849E-4AC64E65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647950"/>
            <a:ext cx="2619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8E516-A704-42CC-B9E9-1910556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24200"/>
            <a:ext cx="2619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/search { q, offset, limit 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59600-9099-4F80-A5DC-18BEA726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4A266-FF7F-44B5-A535-3FDA5CE7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ED0DE-C77A-43ED-8ABF-E2A1E331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ranking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B8B26-9D51-4C10-A976-BCF74CB8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242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tokeny, pola, id rosnąco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326320-467D-4F85-B2A2-59DB5B03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2AD38-CA02-49EE-962A-89570CF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576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Deduplikacja id metodą last-write-wins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CBE19-FC30-4390-87F9-F571D49B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13FE7-60F9-4CD6-9539-C4E6540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9577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Brak typo tolerance, fuzzy rankingu i reguł Meilisearch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2149D-5795-45EA-9FD4-2A63EDD7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96F92-BF6C-4DF6-B0B1-8EBBDD07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339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Puste zapytanie zwraca deterministyczną listę po 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895663-83ED-4B7D-87A7-C661561F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EA5C6A-C9AC-4CE9-AC67-5F60D000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Zapytanie space skanuje pola title, genre i overview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F7FB3-80DA-4B30-AAEF-09B171FC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ED0273-2F83-463B-BF8B-D4525323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76B841-1FC1-4CA6-A448-B8955345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169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E85127-7899-40ED-94BF-182823BA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164F7-B25F-43BE-BD0E-4CCA9224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7AAE4-7D1F-4514-A32B-42CF75A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Architektura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CFDAB-2267-4DB2-AB75-A806F3CE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Jeden core, dwa adaptery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2931F-1397-4F6B-BA46-831117C7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400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4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7132A-2A3C-445C-AA08-D0668B03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28775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movie-search-core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D065F-C801-420C-9977-2C39FFA5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33575"/>
            <a:ext cx="3657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fixture · tokenizacja · ranking · response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8E391-152D-4BC6-AB47-D0DC01DF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D05C3-59F0-4F11-82D1-2DD6DC59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3852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Spin 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9AF6B-C4A3-459F-B99A-8321A280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WASI HTTP component</a:t>
            </a:r>
          </a:p>
          <a:p xmlns:a="http://schemas.openxmlformats.org/drawingml/2006/main">
            <a:pPr algn="l">
              <a:defRPr sz="12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127.0.0.1:8080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6CE76-1F3C-4753-B072-EC09809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86125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65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89357-10EB-41F3-86C1-EB4CB36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38525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OCI 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83B505-FB37-4A38-8DAF-04F86260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43325"/>
            <a:ext cx="2800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native Rust HTTP server</a:t>
            </a:r>
          </a:p>
          <a:p xmlns:a="http://schemas.openxmlformats.org/drawingml/2006/main">
            <a:pPr algn="l">
              <a:defRPr sz="12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127.0.0.1:8081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639CC-12E6-4B68-A684-32937D78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10125"/>
            <a:ext cx="438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E831C-94A1-47F9-BF14-EBBBFA65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62525"/>
            <a:ext cx="403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Benchmark harness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A1EB0-9EF8-4347-B8BA-25397297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67325"/>
            <a:ext cx="4038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smoke · parity · cold start · load ·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F9DCE-1707-4258-A544-40AA960A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5267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0A2D9-745E-4F92-9F6A-5F05D0EE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676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B0A61-99B5-403F-AAF6-1D464E9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57500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EC14E-FCA5-466D-945E-1DEDBE26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857500"/>
            <a:ext cx="38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698DB-437C-40D3-81B3-58E06BA2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62425"/>
            <a:ext cx="38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6CDB7-3827-4F55-B660-E56B80ED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57700"/>
            <a:ext cx="676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FEAC0-D815-4328-B17E-B1C6692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624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85C39-867C-493A-8097-88CC1AC6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62425"/>
            <a:ext cx="3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9427F-FB89-46BA-B7A9-6756C231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11389-5A88-43A8-8BED-845D72C8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9A817-D623-4F4C-B303-FC49DB76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44793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62B8E7-ABF3-4735-ADA3-2B0B8E9F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84A5A-F448-41D9-8535-515F38C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7F819-E77A-4DF8-B5D2-59D30D65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Metodyka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00CBE-7D08-45B6-89DC-B070D071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Jak mierzyliśmy?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F2AE0-343D-4FC1-B817-FA4F16F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83B09-20BA-4286-8412-2F25CF0A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47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F52AF-52E7-49B5-9F9C-37F02107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Testy i 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3481F-A533-48EA-8008-5E95FBDE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cargo test, spin build, docker compose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5962D-0DA7-40B0-A149-0BB1A47D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95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44FF3-D94D-4A26-832E-0EA0B8A1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47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19413-AB40-47B7-9075-69D3FA0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14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Parytet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0E0A4-D7FE-4E01-838D-FC6D4947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479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te same hit.id dla 5 zapytań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D3787-62EE-4C86-8464-0545B2A8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95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8DD24-2388-4718-8BD7-4B0DEC8C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47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5C75D-C795-4FB4-82AD-3AD17E69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Cold 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2A15A-EE1A-4E71-903B-714C8D9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479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20 powtórzeń na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C9637-F553-46DB-B838-FFAD060D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EA064-6372-4372-B8D6-6D67E6CD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EC66C-5BBF-4E03-96C1-23C0DF7C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14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173CA2-97B0-4F6C-977F-F545741E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479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concurrency 10, 50, 100, 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901D1-9470-49FA-BF47-787E3498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95450"/>
            <a:ext cx="1428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D309D-B1DF-46E1-8DDE-35000754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478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76200" rIns="0" bIns="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621C6-3973-43D0-B634-0F6758B5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4AEB0F-0806-4468-B3A0-1D38159F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47975"/>
            <a:ext cx="1200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Docker stats vs host process RSS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F0C4F-15B6-4025-993E-F5DCC522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ED3E8-5FDA-4F2C-94D8-15182C5D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8915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Pełny benchmark: benchmarks/run_all.sh. Demo pokazuje zgodność i artefakty, nie uruchamia pełnego testu obciążeniowego.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F4D6C-12E1-46CA-A2B7-79A1E0CD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1C856-2087-41E7-9B5B-D236E25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520364-2DB6-4ADA-B366-09710A9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512489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1E4B24-2370-4BB2-B3B8-EB9E2EC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518BC-4823-4CE5-B4EF-609FC35E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B099C-F34C-4B97-BA87-4D5282CB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Parytet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05D40-69CF-453E-844C-120402FF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Oba runtime'y zwracają te same wyniki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E512C-5C7F-4603-AA5D-785C7E6E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9562C-AE91-41BC-8AC8-11C12080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5373D-B85A-4CB6-B17D-7B79D57B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2629C-D2AE-461A-8AA4-8F8AACD7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błędów walidacji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694C4-3F43-435B-95C4-D5124148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049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60F71-ED3F-441A-B974-20C7292F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04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B3FB3-7F9C-456D-B762-7406C695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764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44 471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633CC-CF46-403D-BACD-64D58964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526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documentCount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E274B-D4AC-4030-96EF-872ADE6A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049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68138-FCA5-486E-968D-20B2FEB1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049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783B5-BB5C-4F4C-82C7-F7BD14A4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764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5D460-A199-47A1-949D-20FFE38D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zapytań parity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C10F4-BBC8-434B-A4C8-AC5D97FC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9810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AC100-F3A9-4655-AA6A-5B0AD515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923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'space': [62, 957, 1542, 2157, ...]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'toy story': [862, 863, 10193, ...]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'dark knight': [155, 29751, 49026, ...]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'': [2, 3, 5, 6, 11, ...]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Spin and OCI movie-search results match.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9E8FC-77CD-4B33-A5A0-C351F19C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21F6B-48F7-40E8-B13E-B5E2D6D4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95CBE-2CB1-4D79-9D6B-E18B381A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72602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F834E-2919-4DF7-B023-1578F9DF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7EC8D-7182-47DC-9EB4-0E198D75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CEB00-9835-4AAA-80ED-69C5954C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Cold 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6691E-2087-4140-9777-395D459F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Cold start: OCI szybciej gotowe, Spin szybciej kończy pierwszy search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5691727ad401a"/>
          <a:stretch xmlns:a="http://schemas.openxmlformats.org/drawingml/2006/main"/>
        </p:blipFill>
        <p:spPr>
          <a:xfrm xmlns:a="http://schemas.openxmlformats.org/drawingml/2006/main">
            <a:off x="6715125" y="1612900"/>
            <a:ext cx="4191000" cy="279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C7AA7-8194-48CF-B2DA-445F92F6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E4B5E-FD76-4BA7-B2BD-9F7060A8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720AE-02A4-440D-9B7D-4831D0D8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28.4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F9412-760E-4335-BAFA-4E423A50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OCI p95 /health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9F960-1BFD-4F82-8FDF-E2B7C4D2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6AC1F-8716-4762-B73E-4769B899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B0C2B-077A-4DB1-802A-3A207893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144.2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80E30-DA7D-41B1-8615-4E2F0F87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479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Spin p95 /health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8B182-0D4F-4E9E-9DF9-048BFCE8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5C61D-F129-4856-A76E-BD72AA5C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BD6C3-499E-4AD7-9880-0C516B8E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377.0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BCCCD-4703-4A58-8E7C-7E5F9F02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OCI p95 first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5B915-2ED6-429C-9A52-B01B5332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1C71D-6E1C-4A8A-961F-627EA202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5EA4B-8C45-4135-B33F-EAEC7C15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337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217.5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A6DEC-CF24-4CCA-9BFD-F746445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Spin p95 first 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2A3B5-75C3-47FE-B61B-AD59E209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Interpretacja: /health mierzy gotowość procesu, a pierwszy /search mierzy już realną ścieżkę aplikacji.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0C752-B342-43F6-93B3-D580F4EA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319B4-3870-4DB5-BE5E-29BF729F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7C3B4-5258-4F27-BF2D-1C84ED60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56780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E6EE9-646B-40BC-A9AF-324FD47C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766C9-F232-48A0-99FA-28E8974B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3BF83-D5B5-4AFC-A168-FB3D8850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Load: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8BC13-E689-4AFF-9AAB-1C0CB598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Zapytanie space: liniowe skanowanie obciąża oba runtime'y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7d662540e40c3"/>
          <a:stretch xmlns:a="http://schemas.openxmlformats.org/drawingml/2006/main"/>
        </p:blipFill>
        <p:spPr>
          <a:xfrm xmlns:a="http://schemas.openxmlformats.org/drawingml/2006/main">
            <a:off x="6419850" y="1653778"/>
            <a:ext cx="4476750" cy="279796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5AE32-5E99-4E64-A965-DECACAB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D60FB-4946-44D3-9E78-C1E776DD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7E50B-C746-4387-B856-61964F07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77.2 req/s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31BF4-7948-4428-B26F-B7A7BC06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Spin c=10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E6CB1-DBC2-4D76-A0C4-7230A26B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CAA17-CA8B-4358-9E45-05BDA49F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D6ECF-7F49-412F-B13B-502990D7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716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54.0 req/s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C57601-E54F-4079-A4ED-837C5FFE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479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OCI c=10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B5EE6-D906-4CAA-9155-308BEDE6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9E413-2F5B-41A6-A389-C0CC736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FBDFB-5382-4255-8102-D9C9954C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168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99082-29AF-49B7-9B02-5797D475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Spin p95 c=10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B1A56-059A-4A3C-A7EB-A0B3D5D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8B007-C5B4-4E3D-9B0A-C812CE1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A5C8CB-2E2C-4C09-91D6-46350A8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211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206CE-BB59-4F8B-883B-0A438FFD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100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OCI p95 c=10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C590A-09A9-431A-BE8F-3F444882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49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75766-BE3A-4EC5-9CA4-8492C4B1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910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Dla space oba warianty wykonują kosztowne liniowe skanowanie tekstu; przy wysokiej współbieżności rośnie tail latency.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525EC-6D09-49A8-98CC-74110E22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FB526E-8A90-4FEC-9185-A5B0AC7C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5062F-968A-4A6B-93B0-486985D3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77058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7F2792-F850-4851-940E-5709AF99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CFA74-8169-48C8-88DB-386BF8DB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21F5D-F458-4127-A7CD-88332918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Load: empty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49537-34FA-408D-BED1-7491C4A8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Puste zapytanie pokazuje koszt ścieżki runtime/HTTP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c51db34374b7d"/>
          <a:stretch xmlns:a="http://schemas.openxmlformats.org/drawingml/2006/main"/>
        </p:blipFill>
        <p:spPr>
          <a:xfrm xmlns:a="http://schemas.openxmlformats.org/drawingml/2006/main">
            <a:off x="6191250" y="1559719"/>
            <a:ext cx="4762500" cy="29765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4F05-1FB3-4474-BBCF-7250A60E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6561C-D3BC-4198-8F37-6B701FAF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A9F74-E09E-4FB0-BFC3-66AFDB15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3315 req/s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2B530-CBD9-4B18-A0E5-0D983A15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OCI c=10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21B18-BA3B-4FC9-8890-AFC33443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17338-ACC8-434E-AA21-32808DF0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3E36D-C777-4AC9-969E-9B6EDF16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716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133 req/s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73592-BC9E-4834-9030-8E3F5FCE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479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Spin c=10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A2E02-79F6-4796-8DC7-3B62DE44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DBFD4-B602-4894-A158-00E9A55E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BCFAD-B853-4891-A802-BAEB6E36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95.7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6E625F-AAC7-42C4-B407-6E53550E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OCI p95 c=200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FC23D-F415-468F-BBA3-3BA3DE44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623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CA838-7FB8-4648-97DD-AAC8F10A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623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257C9-7282-4409-A96C-420B84A4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3636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461C8-BA5B-490E-A1C8-1FDD6B31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Spin p95 c=200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93972-5039-4A57-9834-22752F4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2C1079-201A-4E3A-B5F2-9C834D51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910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Puste zapytanie jest lekkie aplikacyjnie, więc mocno ujawnia narzut ścieżki HTTP/runtime.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26AE88-8510-4D35-BAF1-7E3F01A3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6429E-D40E-42CC-AF00-E83F3F4C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27996-1750-4432-A82D-04C9CB99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653582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B87A8D-9223-4528-95D0-EC79B459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BC781-FC29-440A-BFE8-C7FF0835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2D74C-9824-4CB3-9CC6-C56891AD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Pamięć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AD12B-676D-405F-A935-E9B4A1E5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Memory: metryki są porównywalne operacyjnie, ale nie identyczne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39f579dcf475f"/>
          <a:stretch xmlns:a="http://schemas.openxmlformats.org/drawingml/2006/main"/>
        </p:blipFill>
        <p:spPr>
          <a:xfrm xmlns:a="http://schemas.openxmlformats.org/drawingml/2006/main">
            <a:off x="6705600" y="1985963"/>
            <a:ext cx="4095750" cy="2047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398F2-9F7E-4085-8189-CDE7F800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EEEDE-ED23-4CDF-B302-37BF3B2D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8F277-D501-4498-A822-669D0C37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31.9 MiB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BEE4A-F5AE-4AFB-81AB-D46807E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OCI load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48130-A3FD-4D28-B30B-7B89FC20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2333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636AB-A3F9-4C70-B40F-5D56C69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002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69206-1A72-4DC3-BE89-3F83AEAC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1952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493.5 MiB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956EF-1A32-4575-8B03-CFA6026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4790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Spin load max RSS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11C39-7F84-4FC8-AE29-F0D1F25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D24A9-BD49-40D4-AE09-3AE863F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290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OCI: docker stats / cgroup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6F4A9-42DE-49FF-9B83-BC6CB62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F76C6-1C9F-4781-BAD4-72E4B27E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290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Spin: host process tree RSS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DCC04-808A-4B90-B61F-CA4C6E77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4D5AB-3C8A-476E-9851-89809451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29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Wniosek: porównanie operacyjne, nie identyczna rachunkowość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A2CFE-90ED-4508-B064-03F84465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F8FCB-2CA4-40B7-9DC0-D85B3E15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8D5E1-C1B7-4360-930B-B4119B57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6635895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0C983-36A0-44AE-961E-D77BFBE6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FC1CA-8252-47DB-BFE3-D41D2C0B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D4D71-5901-45E4-A22F-3E4B0626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BD150-3B20-4A6F-A967-6170D041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Demo: pokazujemy zgodność, nie odpalamy pełnego benchmarku na żywo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54B67-CC79-46E1-A359-29A080FF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04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91365-EBF3-4D5B-80FE-0DA736A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192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Uruchom Spin :8080 i OCI :8081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99105-81E4-4CA3-B666-D058C2F9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57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7FB90-CCDF-42C2-A80A-CFAFF4E5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717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Pokaż /health, /version, /stats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BC064-9DF3-4641-BB03-DF179942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09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5CC48-1E5A-4600-9564-3F2749E8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241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Wyślij POST /search dla q=space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2D300-5E99-4FD2-BD5F-3A3AB0F2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6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7A4BE-A680-4DAA-8272-510A7719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76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Uruchom benchmarks/compare_results.sh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788FA-5E32-4BA2-B6A9-206B30D0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0217C-CA97-40B5-B671-B658254A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29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Pokaż CSV i wykresy z pełnego benchmarku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C56FC-75CC-40EB-93D2-20E96913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145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D07A1-51F3-4C5E-83DC-44839DBB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curl /version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curl /stats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curl -X POST /search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benchmarks/compare_results.sh</a:t>
            </a:r>
          </a:p>
          <a:p xmlns:a="http://schemas.openxmlformats.org/drawingml/2006/main">
            <a:pPr algn="l">
              <a:def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57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ls results/plots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B8988-E43F-4CA4-86A0-4F56F441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4D7AA-DAA9-4054-AC11-FE791B5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891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Pełny benchmark trwa kilka-kilkanaście minut, więc live demo pokazuje procedurę i dowód parytetu.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E4D4D-2EB3-4082-A91D-3E45D252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72DF3-97E8-40C6-BAA3-2A7CA5B3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BEF68-E928-41E4-8817-D4E36B9E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588092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4CF5D-91A5-4B60-9F7D-6AE3D09D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5EE4E-03E0-4584-A6A6-7829468A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013B6-4E61-4E1A-B6F6-741854E6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Wnioski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10DCB-DFB6-4E1D-88E3-CAF4BC6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Kiedy ten stack jest sensowny?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F443E-CC45-4E09-80CB-9329618A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B6424-2D94-4812-A35D-C22654B4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Spin/WASM ma sens gdy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8C7F8-72E9-4D97-B8F3-B895337B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17BE1-F4BC-47E0-97FE-FEA678B7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mały izolowany HTTP component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15E0B-6855-4668-A8E0-58F2043D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D0651-44C2-4646-98AD-FF53B19C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242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edge/serverless/plugin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26199-A14D-49CA-9CE9-AF5AD677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6DB2E-7FAC-41BA-9771-71760B3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ważna przenośność i sandboxing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D17D2-F7EC-4B4F-9F24-AFFD3941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BDEB8-5388-4115-964B-A26F4C05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OCI pozostaje lepsze gdy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9EB56-EB3A-4322-BD34-2490015A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9DBB3-D5A7-4D49-8DF8-F4E02CF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potrzebna dojrzałość toolingowa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FCFF7-763F-4E01-B66D-70944081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9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D156A-8C17-48EC-BC61-3B3535D3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242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storage-heavy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41715-3B6F-4467-BD3F-86EAC95B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05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744D2-356C-41D6-80A8-65D4CC26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precyzyjna rachunkowość zasobów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AF45A-FA2D-41DF-AD67-14741FF7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6210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6367F-0983-4055-8BC4-3121681F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47850"/>
            <a:ext cx="266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Nasz wynik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41DFE-8134-4877-80DC-23F983CF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1D5B6-17AB-4B50-9E97-6BD85B20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parytet funkcjonalny: tak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39F50-E3F0-4EE0-B063-5DA60C2B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36335-C2B6-4231-91DD-C3D7C41B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wydajność: zależna od ścieżki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D1B70-C187-41BF-99B4-FE4D237B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05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782E1-EF92-43FA-8711-1F6DAB36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Meilisearch port: feasibility blocker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682DC5-6384-482B-B169-B0FA5B47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Najważniejsze: benchmark jest uczciwy, bo porównuje ten sam kod aplikacyjny.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90839D-A928-46C4-93E7-00A0EA3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373C9-3197-4B05-AA59-80A55EF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070"/>
                </a:solidFill>
                <a:latin typeface="Aptos"/>
                <a:ea typeface="Aptos"/>
                <a:cs typeface="Aptos"/>
              </a:rPr>
              <a:t>LSC 2026 · Spin/WASM vs OCI · movie-search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8C2FAE-222A-4F2E-9F4B-E47D1679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8607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607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0734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2026-05-24T02:47:13.1930000Z</dcterms:created>
  <dcterms:modified xsi:type="dcterms:W3CDTF">2026-05-24T02:47:13.1930000Z</dcterms:modified>
</coreProperties>
</file>